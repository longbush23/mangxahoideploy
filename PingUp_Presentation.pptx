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9" r:id="rId11"/>
    <p:sldId id="282" r:id="rId12"/>
    <p:sldId id="267" r:id="rId13"/>
    <p:sldId id="268" r:id="rId14"/>
    <p:sldId id="280" r:id="rId15"/>
    <p:sldId id="281" r:id="rId16"/>
    <p:sldId id="273" r:id="rId17"/>
    <p:sldId id="274" r:id="rId18"/>
    <p:sldId id="275" r:id="rId19"/>
    <p:sldId id="276" r:id="rId20"/>
    <p:sldId id="277" r:id="rId21"/>
    <p:sldId id="278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9"/>
  </p:normalViewPr>
  <p:slideViewPr>
    <p:cSldViewPr snapToGrid="0" snapToObjects="1">
      <p:cViewPr varScale="1">
        <p:scale>
          <a:sx n="108" d="100"/>
          <a:sy n="108" d="100"/>
        </p:scale>
        <p:origin x="1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49376" y="1185594"/>
            <a:ext cx="6463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3600" dirty="0"/>
              <a:t>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793" y="2971800"/>
            <a:ext cx="6386685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rPr lang="vi-VN" dirty="0"/>
              <a:t>Sinh viên thực hiện: Nguyễn Vũ Thành Long</a:t>
            </a:r>
          </a:p>
          <a:p>
            <a:pPr>
              <a:defRPr sz="2400">
                <a:solidFill>
                  <a:srgbClr val="94A3B8"/>
                </a:solidFill>
              </a:defRPr>
            </a:pPr>
            <a:r>
              <a:rPr lang="vi-VN" dirty="0"/>
              <a:t>Lớp: 					10 ĐH_CNPM1</a:t>
            </a:r>
          </a:p>
          <a:p>
            <a:pPr algn="ctr">
              <a:defRPr sz="2400">
                <a:solidFill>
                  <a:srgbClr val="94A3B8"/>
                </a:solidFill>
              </a:defRPr>
            </a:pPr>
            <a:r>
              <a:rPr lang="vi-VN" dirty="0"/>
              <a:t>GVHD: 				ThS. Cao Hữu Thanh Vũ</a:t>
            </a:r>
            <a:br>
              <a:rPr lang="vi-VN" dirty="0"/>
            </a:br>
            <a:endParaRPr lang="vi-VN" dirty="0"/>
          </a:p>
          <a:p>
            <a:pPr algn="ctr">
              <a:defRPr sz="2400">
                <a:solidFill>
                  <a:srgbClr val="94A3B8"/>
                </a:solidFill>
              </a:defRPr>
            </a:pPr>
            <a:r>
              <a:rPr lang="vi-VN" sz="3200" dirty="0"/>
              <a:t>Khóa luận tốt nghiệp</a:t>
            </a:r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3233D6-DE5B-8024-0F3E-444EA725C840}"/>
              </a:ext>
            </a:extLst>
          </p:cNvPr>
          <p:cNvSpPr txBox="1"/>
          <p:nvPr/>
        </p:nvSpPr>
        <p:spPr>
          <a:xfrm>
            <a:off x="1935701" y="1185594"/>
            <a:ext cx="533832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rPr lang="vi-VN" sz="3600" dirty="0"/>
              <a:t>Ứng dụng mạng xã hội </a:t>
            </a:r>
          </a:p>
          <a:p>
            <a:pPr algn="ctr">
              <a:defRPr sz="2200" b="1">
                <a:solidFill>
                  <a:srgbClr val="8B5CF6"/>
                </a:solidFill>
              </a:defRPr>
            </a:pPr>
            <a:r>
              <a:rPr lang="vi-VN" sz="3600" dirty="0"/>
              <a:t>nội bộ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📋 NỘI DUNG THUYẾT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1.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Giới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thiệu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dự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án</a:t>
            </a:r>
            <a:endParaRPr sz="2800" dirty="0">
              <a:solidFill>
                <a:schemeClr val="accent5">
                  <a:lumMod val="20000"/>
                  <a:lumOff val="80000"/>
                </a:schemeClr>
              </a:solidFill>
              <a:latin typeface="Al Nile" pitchFamily="2" charset="-78"/>
              <a:cs typeface="Al Nile" pitchFamily="2" charset="-78"/>
            </a:endParaRP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2.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Vấn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đề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&amp;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Giải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pháp</a:t>
            </a:r>
            <a:endParaRPr sz="2800" dirty="0">
              <a:solidFill>
                <a:schemeClr val="accent5">
                  <a:lumMod val="20000"/>
                  <a:lumOff val="80000"/>
                </a:schemeClr>
              </a:solidFill>
              <a:latin typeface="Al Nile" pitchFamily="2" charset="-78"/>
              <a:cs typeface="Al Nile" pitchFamily="2" charset="-78"/>
            </a:endParaRP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3. Công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nghệ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sử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dụng</a:t>
            </a:r>
            <a:endParaRPr sz="2800" dirty="0">
              <a:solidFill>
                <a:schemeClr val="accent5">
                  <a:lumMod val="20000"/>
                  <a:lumOff val="80000"/>
                </a:schemeClr>
              </a:solidFill>
              <a:latin typeface="Al Nile" pitchFamily="2" charset="-78"/>
              <a:cs typeface="Al Nile" pitchFamily="2" charset="-78"/>
            </a:endParaRP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4.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Kiến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trúc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hệ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thống</a:t>
            </a:r>
            <a:endParaRPr sz="2800" dirty="0">
              <a:solidFill>
                <a:schemeClr val="accent5">
                  <a:lumMod val="20000"/>
                  <a:lumOff val="80000"/>
                </a:schemeClr>
              </a:solidFill>
              <a:latin typeface="Al Nile" pitchFamily="2" charset="-78"/>
              <a:cs typeface="Al Nile" pitchFamily="2" charset="-78"/>
            </a:endParaRP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5.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Tính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năng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chính</a:t>
            </a:r>
            <a:endParaRPr sz="2800" dirty="0">
              <a:solidFill>
                <a:schemeClr val="accent5">
                  <a:lumMod val="20000"/>
                  <a:lumOff val="80000"/>
                </a:schemeClr>
              </a:solidFill>
              <a:latin typeface="Al Nile" pitchFamily="2" charset="-78"/>
              <a:cs typeface="Al Nile" pitchFamily="2" charset="-78"/>
            </a:endParaRP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lang="vi-VN" sz="2800" dirty="0">
                <a:solidFill>
                  <a:schemeClr val="accent5">
                    <a:lumMod val="20000"/>
                    <a:lumOff val="80000"/>
                  </a:schemeClr>
                </a:solidFill>
                <a:cs typeface="Al Nile" pitchFamily="2" charset="-78"/>
              </a:rPr>
              <a:t>6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. Demo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lang="vi-VN" sz="2800" dirty="0">
                <a:solidFill>
                  <a:schemeClr val="accent5">
                    <a:lumMod val="20000"/>
                    <a:lumOff val="80000"/>
                  </a:schemeClr>
                </a:solidFill>
                <a:cs typeface="Al Nile" pitchFamily="2" charset="-78"/>
              </a:rPr>
              <a:t>7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.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Kết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</a:t>
            </a:r>
            <a:r>
              <a:rPr sz="28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luận</a:t>
            </a:r>
            <a:r>
              <a:rPr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l Nile" pitchFamily="2" charset="-78"/>
                <a:cs typeface="Al Nile" pitchFamily="2" charset="-78"/>
              </a:rPr>
              <a:t>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56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rPr dirty="0"/>
              <a:t>🎯 </a:t>
            </a:r>
            <a:r>
              <a:rPr lang="vi-VN" dirty="0"/>
              <a:t>Mạng xã hội nội bộ</a:t>
            </a:r>
            <a:r>
              <a:rPr dirty="0"/>
              <a:t>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 err="1"/>
              <a:t>Nền</a:t>
            </a:r>
            <a:r>
              <a:rPr dirty="0"/>
              <a:t> </a:t>
            </a:r>
            <a:r>
              <a:rPr dirty="0" err="1"/>
              <a:t>tảng</a:t>
            </a:r>
            <a:r>
              <a:rPr dirty="0"/>
              <a:t> ALL-IN-ONE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doanh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: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✅ </a:t>
            </a:r>
            <a:r>
              <a:rPr dirty="0" err="1"/>
              <a:t>Mạng</a:t>
            </a:r>
            <a:r>
              <a:rPr dirty="0"/>
              <a:t> </a:t>
            </a:r>
            <a:r>
              <a:rPr dirty="0" err="1"/>
              <a:t>xã</a:t>
            </a:r>
            <a:r>
              <a:rPr dirty="0"/>
              <a:t> </a:t>
            </a:r>
            <a:r>
              <a:rPr dirty="0" err="1"/>
              <a:t>hội</a:t>
            </a:r>
            <a:r>
              <a:rPr dirty="0"/>
              <a:t> </a:t>
            </a:r>
            <a:r>
              <a:rPr lang="vi-VN" dirty="0"/>
              <a:t>dành cho nội bộ công ty</a:t>
            </a:r>
            <a:r>
              <a:rPr dirty="0"/>
              <a:t>(Social Network)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✅ Quản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 Agile (Scrum/Kanban)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✅ Giao </a:t>
            </a:r>
            <a:r>
              <a:rPr dirty="0" err="1"/>
              <a:t>tiếp</a:t>
            </a:r>
            <a:r>
              <a:rPr dirty="0"/>
              <a:t> real-time (Chat, Video Call)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✅ </a:t>
            </a:r>
            <a:r>
              <a:rPr dirty="0" err="1"/>
              <a:t>Trợ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AI </a:t>
            </a:r>
            <a:r>
              <a:rPr dirty="0" err="1"/>
              <a:t>thông</a:t>
            </a:r>
            <a:r>
              <a:rPr dirty="0"/>
              <a:t> </a:t>
            </a:r>
            <a:r>
              <a:rPr dirty="0" err="1"/>
              <a:t>minh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→ Thay </a:t>
            </a:r>
            <a:r>
              <a:rPr dirty="0" err="1"/>
              <a:t>thế</a:t>
            </a:r>
            <a:r>
              <a:rPr dirty="0"/>
              <a:t>: Slack + Jira + Zoom = </a:t>
            </a:r>
            <a:r>
              <a:rPr dirty="0" err="1"/>
              <a:t>PingUp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❌ VẤN ĐỀ THỰC TẾ TRONG DOANH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8428"/>
            <a:ext cx="786384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1. PHÂN TÁN CÔNG CỤ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</a:t>
            </a:r>
            <a:r>
              <a:rPr dirty="0" err="1"/>
              <a:t>Dùng</a:t>
            </a:r>
            <a:r>
              <a:rPr dirty="0"/>
              <a:t> 5-10 tools </a:t>
            </a:r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nhau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Thông tin </a:t>
            </a:r>
            <a:r>
              <a:rPr dirty="0" err="1"/>
              <a:t>rời</a:t>
            </a:r>
            <a:r>
              <a:rPr dirty="0"/>
              <a:t> </a:t>
            </a:r>
            <a:r>
              <a:rPr dirty="0" err="1"/>
              <a:t>rạc</a:t>
            </a:r>
            <a:r>
              <a:rPr dirty="0"/>
              <a:t>, </a:t>
            </a:r>
            <a:r>
              <a:rPr dirty="0" err="1"/>
              <a:t>khó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2. </a:t>
            </a:r>
            <a:r>
              <a:rPr lang="en-US" sz="2000" dirty="0" err="1"/>
              <a:t>Thiếu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gian</a:t>
            </a:r>
            <a:r>
              <a:rPr lang="en-US" sz="2000" dirty="0"/>
              <a:t> chia </a:t>
            </a:r>
            <a:r>
              <a:rPr lang="en-US" sz="2000" dirty="0" err="1"/>
              <a:t>sẻ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 </a:t>
            </a:r>
            <a:r>
              <a:rPr lang="en-US" sz="2000" dirty="0" err="1"/>
              <a:t>thừa</a:t>
            </a:r>
            <a:r>
              <a:rPr lang="en-US" sz="2000" dirty="0"/>
              <a:t> </a:t>
            </a:r>
            <a:r>
              <a:rPr lang="en-US" sz="2000" dirty="0" err="1"/>
              <a:t>nội</a:t>
            </a:r>
            <a:r>
              <a:rPr lang="en-US" sz="2000" dirty="0"/>
              <a:t> </a:t>
            </a:r>
            <a:r>
              <a:rPr lang="en-US" sz="2000" dirty="0" err="1"/>
              <a:t>bộ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</a:t>
            </a:r>
            <a:r>
              <a:rPr lang="en-US" sz="2000" dirty="0" err="1"/>
              <a:t>Kiến</a:t>
            </a:r>
            <a:r>
              <a:rPr lang="en-US" sz="2000" dirty="0"/>
              <a:t> </a:t>
            </a:r>
            <a:r>
              <a:rPr lang="en-US" sz="2000" dirty="0" err="1"/>
              <a:t>thức</a:t>
            </a:r>
            <a:r>
              <a:rPr lang="en-US" sz="2000" dirty="0"/>
              <a:t> </a:t>
            </a:r>
            <a:r>
              <a:rPr lang="en-US" sz="2000" dirty="0" err="1"/>
              <a:t>dự</a:t>
            </a:r>
            <a:r>
              <a:rPr lang="en-US" sz="2000" dirty="0"/>
              <a:t> </a:t>
            </a:r>
            <a:r>
              <a:rPr lang="en-US" sz="2000" dirty="0" err="1"/>
              <a:t>án</a:t>
            </a:r>
            <a:r>
              <a:rPr lang="en-US" sz="2000" dirty="0"/>
              <a:t> </a:t>
            </a:r>
            <a:r>
              <a:rPr lang="en-US" sz="2000" dirty="0" err="1"/>
              <a:t>nằm</a:t>
            </a:r>
            <a:r>
              <a:rPr lang="en-US" sz="2000" dirty="0"/>
              <a:t> </a:t>
            </a:r>
            <a:r>
              <a:rPr lang="en-US" sz="2000" dirty="0" err="1"/>
              <a:t>rải</a:t>
            </a:r>
            <a:r>
              <a:rPr lang="en-US" sz="2000" dirty="0"/>
              <a:t> </a:t>
            </a:r>
            <a:r>
              <a:rPr lang="en-US" sz="2000" dirty="0" err="1"/>
              <a:t>rác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chat, email, task board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</a:t>
            </a:r>
            <a:r>
              <a:rPr lang="vi-VN" sz="2000" dirty="0"/>
              <a:t>Context quyết định không được lưu lại cho người vào sau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</a:t>
            </a:r>
            <a:r>
              <a:rPr lang="en-US" sz="2000" dirty="0"/>
              <a:t>Thành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mới</a:t>
            </a:r>
            <a:r>
              <a:rPr lang="en-US" sz="2000" dirty="0"/>
              <a:t> </a:t>
            </a:r>
            <a:r>
              <a:rPr lang="en-US" sz="2000" dirty="0" err="1"/>
              <a:t>mất</a:t>
            </a:r>
            <a:r>
              <a:rPr lang="en-US" sz="2000" dirty="0"/>
              <a:t> 2–4 </a:t>
            </a:r>
            <a:r>
              <a:rPr lang="en-US" sz="2000" dirty="0" err="1"/>
              <a:t>tuần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hòa</a:t>
            </a:r>
            <a:r>
              <a:rPr lang="en-US" sz="2000" dirty="0"/>
              <a:t> </a:t>
            </a:r>
            <a:r>
              <a:rPr lang="en-US" sz="2000" dirty="0" err="1"/>
              <a:t>nhập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nhịp</a:t>
            </a:r>
            <a:r>
              <a:rPr lang="en-US" sz="2000" dirty="0"/>
              <a:t> Agile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3. THIẾU TÍNH XÃ HỘI TRONG CÔNG VIỆC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Jira: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social features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Facebook: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task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4529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rPr dirty="0"/>
              <a:t>✅ GIẢI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📱 SOCIAL                    📊 WORK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Posts                      • Projects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Stories                    • Kanban Board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Connections           </a:t>
            </a:r>
            <a:r>
              <a:rPr lang="vi-VN" dirty="0"/>
              <a:t>	  </a:t>
            </a:r>
            <a:r>
              <a:rPr dirty="0"/>
              <a:t> • Task Management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💬 COMMUNICATION           🤖 AI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Chat 1-1                  • AI Assistant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Group Chat               • Smart replies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Video Call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⭐ + TASK HANDOVER SYSTEM (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độc</a:t>
            </a:r>
            <a:r>
              <a:rPr dirty="0"/>
              <a:t> </a:t>
            </a:r>
            <a:r>
              <a:rPr dirty="0" err="1"/>
              <a:t>đáo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📊 SO SÁNH VỚI CÁC NỀN TẢNG KHÁC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657980"/>
              </p:ext>
            </p:extLst>
          </p:nvPr>
        </p:nvGraphicFramePr>
        <p:xfrm>
          <a:off x="274320" y="128016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Tính năng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Facebook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LinkedIn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Jira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Slack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PingUp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Social Posts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Stories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Task Management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Kanban Board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Video 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AI Assistant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rPr dirty="0"/>
                        <a:t>⚠️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rPr lang="en-VN" dirty="0"/>
                        <a:t>⚠️</a:t>
                      </a:r>
                    </a:p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rPr lang="en-US" dirty="0"/>
                        <a:t>Task Handover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rPr lang="en-VN"/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rPr lang="en-VN"/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rPr lang="en-VN"/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rPr lang="en-VN"/>
                        <a:t>❌</a:t>
                      </a:r>
                      <a:endParaRPr lang="en-VN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rPr lang="en-VN" dirty="0"/>
                        <a:t>✅</a:t>
                      </a:r>
                    </a:p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endParaRPr lang="en-VN" dirty="0"/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rPr dirty="0"/>
                        <a:t>Enterprise Focus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rPr dirty="0"/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🛠️ CÔNG NGHỆ SỬ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endParaRPr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React 19 • Vite 7 • </a:t>
            </a:r>
            <a:r>
              <a:rPr dirty="0" err="1"/>
              <a:t>TailwindCSS</a:t>
            </a:r>
            <a:r>
              <a:rPr dirty="0"/>
              <a:t> 4 • Redux Toolkit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Clerk Auth • </a:t>
            </a:r>
            <a:r>
              <a:rPr dirty="0" err="1"/>
              <a:t>Socket.io</a:t>
            </a:r>
            <a:r>
              <a:rPr dirty="0"/>
              <a:t>-client • React Router 7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endParaRPr dirty="0"/>
          </a:p>
          <a:p>
            <a:pPr algn="ctr"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endParaRPr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Node.js • Express 5 • MongoDB • </a:t>
            </a:r>
            <a:r>
              <a:rPr dirty="0" err="1"/>
              <a:t>Socket.io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 err="1"/>
              <a:t>Inngest</a:t>
            </a:r>
            <a:r>
              <a:rPr dirty="0"/>
              <a:t> • </a:t>
            </a:r>
            <a:r>
              <a:rPr dirty="0" err="1"/>
              <a:t>ImageKit</a:t>
            </a:r>
            <a:r>
              <a:rPr dirty="0"/>
              <a:t> • </a:t>
            </a:r>
            <a:r>
              <a:rPr dirty="0" err="1"/>
              <a:t>Nodemailer</a:t>
            </a:r>
            <a:r>
              <a:rPr dirty="0"/>
              <a:t> • </a:t>
            </a:r>
            <a:r>
              <a:rPr dirty="0" err="1"/>
              <a:t>OpenRouter</a:t>
            </a:r>
            <a:r>
              <a:rPr dirty="0"/>
              <a:t> AI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22F393-9A80-C918-5AB4-A140C5509248}"/>
              </a:ext>
            </a:extLst>
          </p:cNvPr>
          <p:cNvSpPr txBox="1"/>
          <p:nvPr/>
        </p:nvSpPr>
        <p:spPr>
          <a:xfrm>
            <a:off x="457200" y="1280160"/>
            <a:ext cx="140775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rPr lang="vi-VN" dirty="0"/>
              <a:t>Frontend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32B2B1-E2D3-679D-B304-925DC28ECB8F}"/>
              </a:ext>
            </a:extLst>
          </p:cNvPr>
          <p:cNvSpPr txBox="1"/>
          <p:nvPr/>
        </p:nvSpPr>
        <p:spPr>
          <a:xfrm>
            <a:off x="457200" y="3200400"/>
            <a:ext cx="136127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rPr lang="vi-VN" dirty="0"/>
              <a:t>Backend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🖥️ FRONTEND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rPr dirty="0"/>
              <a:t>Core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React 19 - UI Framework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Vite 7 - Build tool nhanh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TailwindCSS 4 - Styling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Redux Toolkit - State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React Router 7 - Routing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Clerk React -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rPr dirty="0"/>
              <a:t>Additional Libraries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Socket.io-client - Real-time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@hello-pangea/dnd - Drag &amp; Drop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Lucide Icons - Icon library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React Hot Toast - Notifications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Axios - HTTP client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Moment.js - Date/time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⚙️ BACKEND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Core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Node.js - Runtime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Express 5 - Web framework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MongoDB - NoSQL Database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Mongoose 8 - ODM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Socket.io - WebSocket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Clerk Express -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Services &amp;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Inngest - Background jobs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ImageKit - Media CDN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Multer - File upload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Nodemailer - Email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OpenRouter API - AI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WebRTC - Video streaming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rPr lang="en-VN" dirty="0"/>
              <a:t>🏗️ </a:t>
            </a:r>
            <a:r>
              <a:rPr dirty="0"/>
              <a:t>KIẾN TRÚC HỆ THỐNG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822960"/>
            <a:ext cx="4572000" cy="12801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🖥️ CLIENT (Browser)</a:t>
            </a:r>
            <a:br/>
            <a:br/>
            <a:r>
              <a:t>React 19 + Vite 7 + TailwindCSS 4</a:t>
            </a:r>
            <a:br/>
            <a:r>
              <a:t>Redux Toolkit + React Router 7</a:t>
            </a:r>
          </a:p>
        </p:txBody>
      </p:sp>
      <p:sp>
        <p:nvSpPr>
          <p:cNvPr id="5" name="Down Arrow 4"/>
          <p:cNvSpPr/>
          <p:nvPr/>
        </p:nvSpPr>
        <p:spPr>
          <a:xfrm>
            <a:off x="4297680" y="2148840"/>
            <a:ext cx="548640" cy="3657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86000" y="2560320"/>
            <a:ext cx="4572000" cy="1463040"/>
          </a:xfrm>
          <a:prstGeom prst="roundRect">
            <a:avLst/>
          </a:prstGeom>
          <a:solidFill>
            <a:srgbClr val="155E7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⚙️ SERVER (Node.js)</a:t>
            </a:r>
            <a:br/>
            <a:br/>
            <a:r>
              <a:t>Express 5 + Socket.io</a:t>
            </a:r>
            <a:br/>
            <a:r>
              <a:t>REST API + WebSocket Server</a:t>
            </a:r>
            <a:br/>
            <a:r>
              <a:t>Clerk Auth Middleware</a:t>
            </a:r>
          </a:p>
        </p:txBody>
      </p:sp>
      <p:sp>
        <p:nvSpPr>
          <p:cNvPr id="8" name="Down Arrow 7"/>
          <p:cNvSpPr/>
          <p:nvPr/>
        </p:nvSpPr>
        <p:spPr>
          <a:xfrm>
            <a:off x="4297680" y="4069080"/>
            <a:ext cx="548640" cy="3657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2560320" cy="1097280"/>
          </a:xfrm>
          <a:prstGeom prst="roundRect">
            <a:avLst/>
          </a:prstGeom>
          <a:solidFill>
            <a:srgbClr val="166534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rPr dirty="0"/>
              <a:t>🗄️ MongoDB</a:t>
            </a:r>
            <a:br>
              <a:rPr dirty="0"/>
            </a:br>
            <a:br>
              <a:rPr dirty="0"/>
            </a:br>
            <a:r>
              <a:rPr dirty="0"/>
              <a:t>Mongoose ODM</a:t>
            </a:r>
            <a:br>
              <a:rPr dirty="0"/>
            </a:br>
            <a:r>
              <a:rPr dirty="0"/>
              <a:t>1</a:t>
            </a:r>
            <a:r>
              <a:rPr lang="vi-VN" dirty="0"/>
              <a:t>2</a:t>
            </a:r>
            <a:r>
              <a:rPr dirty="0"/>
              <a:t>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572000"/>
            <a:ext cx="2560320" cy="1097280"/>
          </a:xfrm>
          <a:prstGeom prst="roundRect">
            <a:avLst/>
          </a:prstGeom>
          <a:solidFill>
            <a:srgbClr val="7C2D12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🖼️ ImageKit</a:t>
            </a:r>
            <a:br/>
            <a:br/>
            <a:r>
              <a:t>Media CDN</a:t>
            </a:r>
            <a:br/>
            <a:r>
              <a:t>Image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572000"/>
            <a:ext cx="2560320" cy="1097280"/>
          </a:xfrm>
          <a:prstGeom prst="roundRect">
            <a:avLst/>
          </a:prstGeom>
          <a:solidFill>
            <a:srgbClr val="581C87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🔌 External Services</a:t>
            </a:r>
            <a:br/>
            <a:br/>
            <a:r>
              <a:t>Clerk Auth • OpenRouter AI</a:t>
            </a:r>
            <a:br/>
            <a:r>
              <a:t>Brevo Email • Inngest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7180" y="827784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rPr dirty="0"/>
              <a:t>💾 DATABASE MODELS (MongoDB - 12 Models)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112768"/>
            <a:ext cx="27432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SOCIAL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915688"/>
            <a:ext cx="2743200" cy="2240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149929"/>
            <a:ext cx="2560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👤 User - Thông tin người dùng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📝 Post - Bài đăng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💬 Comment - Bình luận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📷 Story - Stories 24h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🤝 Connection - Kết nối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3260" y="2103121"/>
            <a:ext cx="27432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3260" y="2971800"/>
            <a:ext cx="2743200" cy="1417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3108960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✉️ Message - Tin nhắn 1-1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👥 Group - Nhóm chat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🤖 AIConversation - Chat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03121"/>
            <a:ext cx="27432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AGILE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880361"/>
            <a:ext cx="27432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75070" y="3063241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rPr dirty="0"/>
              <a:t>📁 Project -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án</a:t>
            </a:r>
            <a:endParaRPr dirty="0"/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rPr dirty="0"/>
              <a:t>✅ Task - Công </a:t>
            </a:r>
            <a:r>
              <a:rPr dirty="0" err="1"/>
              <a:t>việc</a:t>
            </a:r>
            <a:endParaRPr dirty="0"/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rPr dirty="0"/>
              <a:t>🏃 Sprint - Sprint Scrum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rPr dirty="0"/>
              <a:t>⏱️ </a:t>
            </a:r>
            <a:r>
              <a:rPr dirty="0" err="1"/>
              <a:t>TimeLog</a:t>
            </a:r>
            <a:r>
              <a:rPr dirty="0"/>
              <a:t> - 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📱 TÍNH NĂNG MẠNG XÃ HỘI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Feed &amp;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📰 FEED (Bảng tin)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Xem bài từ connections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Like, Comment, Share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Upload hình ảnh/video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📷 STORIES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Đăng story ảnh/video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Tự động xóa sau 24h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Social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👥 CONNECTIONS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Gửi/nhận lời mời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Email thông báo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Quản lý bạn bè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👤 PROFILE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Chỉnh sửa thông tin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Upload avatar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💬 TÍNH NĂNG GIAO TIẾP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Messaging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💬 CHAT 1-1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Real-time (SSE)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Gửi hình ảnh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Trạng thái đã đọc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👥 GROUP CHAT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Tạo nhóm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Quản lý thành viên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Calls &amp;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📹 VIDEO CALL (WebRTC)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Gọi video 1-1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Group video call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Chia sẻ màn hình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🤖 AI ASSISTANT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Chat với AI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t>• Hỗ trợ tiếng Việt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rPr lang="en-VN" dirty="0"/>
              <a:t>📊 </a:t>
            </a:r>
            <a:r>
              <a:rPr dirty="0"/>
              <a:t>KANBAN BOARD - Drag &amp; Drop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640080"/>
            <a:ext cx="1371600" cy="41148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BACKLOG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097280"/>
            <a:ext cx="1371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" y="12344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" y="1481328"/>
            <a:ext cx="457200" cy="182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Bug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169164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4320" y="201168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" y="20574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" y="2304288"/>
            <a:ext cx="457200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2514600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691640" y="640080"/>
            <a:ext cx="137160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TO 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1097280"/>
            <a:ext cx="1371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737360" y="118872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64792" y="12344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64792" y="1481328"/>
            <a:ext cx="457200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19" name="Oval 18"/>
          <p:cNvSpPr/>
          <p:nvPr/>
        </p:nvSpPr>
        <p:spPr>
          <a:xfrm>
            <a:off x="2834640" y="1691640"/>
            <a:ext cx="109728" cy="109728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154680" y="640080"/>
            <a:ext cx="1371600" cy="41148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1097280"/>
            <a:ext cx="1371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0400" y="118872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27832" y="12344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27832" y="1481328"/>
            <a:ext cx="457200" cy="182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Story</a:t>
            </a:r>
          </a:p>
        </p:txBody>
      </p:sp>
      <p:sp>
        <p:nvSpPr>
          <p:cNvPr id="25" name="Oval 24"/>
          <p:cNvSpPr/>
          <p:nvPr/>
        </p:nvSpPr>
        <p:spPr>
          <a:xfrm>
            <a:off x="4297680" y="1691640"/>
            <a:ext cx="109728" cy="1097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200400" y="201168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27832" y="20574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27832" y="2304288"/>
            <a:ext cx="457200" cy="182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Bug</a:t>
            </a:r>
          </a:p>
        </p:txBody>
      </p:sp>
      <p:sp>
        <p:nvSpPr>
          <p:cNvPr id="29" name="Oval 28"/>
          <p:cNvSpPr/>
          <p:nvPr/>
        </p:nvSpPr>
        <p:spPr>
          <a:xfrm>
            <a:off x="4297680" y="2514600"/>
            <a:ext cx="109728" cy="109728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617720" y="640080"/>
            <a:ext cx="1371600" cy="4114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 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1097280"/>
            <a:ext cx="1371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663440" y="118872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90872" y="12344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90872" y="1481328"/>
            <a:ext cx="457200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1691640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080760" y="640080"/>
            <a:ext cx="1371600" cy="4114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80760" y="1097280"/>
            <a:ext cx="1371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126480" y="118872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53912" y="12344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53912" y="1481328"/>
            <a:ext cx="457200" cy="182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Bug</a:t>
            </a:r>
          </a:p>
        </p:txBody>
      </p:sp>
      <p:sp>
        <p:nvSpPr>
          <p:cNvPr id="41" name="Oval 40"/>
          <p:cNvSpPr/>
          <p:nvPr/>
        </p:nvSpPr>
        <p:spPr>
          <a:xfrm>
            <a:off x="7223760" y="1691640"/>
            <a:ext cx="109728" cy="1097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543800" y="640080"/>
            <a:ext cx="1371600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43800" y="1097280"/>
            <a:ext cx="1371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589520" y="118872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16952" y="12344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16952" y="1481328"/>
            <a:ext cx="457200" cy="182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Story</a:t>
            </a:r>
          </a:p>
        </p:txBody>
      </p:sp>
      <p:sp>
        <p:nvSpPr>
          <p:cNvPr id="47" name="Oval 46"/>
          <p:cNvSpPr/>
          <p:nvPr/>
        </p:nvSpPr>
        <p:spPr>
          <a:xfrm>
            <a:off x="8686800" y="169164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589520" y="2011680"/>
            <a:ext cx="1280160" cy="7315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16952" y="20574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WEB-8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16952" y="2304288"/>
            <a:ext cx="457200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51" name="Oval 50"/>
          <p:cNvSpPr/>
          <p:nvPr/>
        </p:nvSpPr>
        <p:spPr>
          <a:xfrm>
            <a:off x="8686800" y="25146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635138" y="5120640"/>
            <a:ext cx="58737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AB308"/>
                </a:solidFill>
              </a:defRPr>
            </a:pPr>
            <a:r>
              <a:rPr dirty="0" err="1"/>
              <a:t>Kéo</a:t>
            </a:r>
            <a:r>
              <a:rPr dirty="0"/>
              <a:t> </a:t>
            </a:r>
            <a:r>
              <a:rPr dirty="0" err="1"/>
              <a:t>thả</a:t>
            </a:r>
            <a:r>
              <a:rPr dirty="0"/>
              <a:t> task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cột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(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@hello-</a:t>
            </a:r>
            <a:r>
              <a:rPr dirty="0" err="1"/>
              <a:t>pangea</a:t>
            </a:r>
            <a:r>
              <a:rPr dirty="0"/>
              <a:t>/</a:t>
            </a:r>
            <a:r>
              <a:rPr dirty="0" err="1"/>
              <a:t>dnd</a:t>
            </a:r>
            <a:r>
              <a:rPr dirty="0"/>
              <a:t>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" y="5615523"/>
            <a:ext cx="8595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rPr dirty="0"/>
              <a:t>6 </a:t>
            </a:r>
            <a:r>
              <a:rPr dirty="0" err="1"/>
              <a:t>cột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(Backlog → Done)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rPr dirty="0"/>
              <a:t>Auto-generate task key (WEB-1, WEB-2...)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Type (Story/Task/Bug/Epic)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rPr dirty="0"/>
              <a:t>Filter </a:t>
            </a:r>
            <a:r>
              <a:rPr dirty="0" err="1"/>
              <a:t>theo</a:t>
            </a:r>
            <a:r>
              <a:rPr dirty="0"/>
              <a:t> Assignee, Priority, Type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📝 QUẢN LÝ TASK CHI TIẾT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5029200" cy="5760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502920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WEB-15: Implement User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Type: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Priority: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7373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🔴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Status: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1031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B308"/>
                </a:solidFill>
              </a:defRPr>
            </a:pPr>
            <a:r>
              <a:t>In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Assignee: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4688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2E8F0"/>
                </a:solidFill>
              </a:defRPr>
            </a:pPr>
            <a:r>
              <a:t>@john.doe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Reporter: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834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2E8F0"/>
                </a:solidFill>
              </a:defRPr>
            </a:pPr>
            <a:r>
              <a:t>@jane.smith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Due Date: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2004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2E8F0"/>
                </a:solidFill>
              </a:defRPr>
            </a:pPr>
            <a:r>
              <a:t>25/12/2024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Story Points: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5661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5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Estimated: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931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2E8F0"/>
                </a:solidFill>
              </a:defRPr>
            </a:pPr>
            <a:r>
              <a:t>8 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976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Actual: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297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6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Labels: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6634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frontend, auth, urgent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69280"/>
            <a:ext cx="146304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⏱️ Log 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5669280"/>
            <a:ext cx="146304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📊 Change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49040" y="5669280"/>
            <a:ext cx="146304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📜 View 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640080"/>
            <a:ext cx="3200400" cy="57607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52160" y="8229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✨ Tính năng Task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1280160"/>
            <a:ext cx="2834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2E8F0"/>
                </a:solidFill>
              </a:defRPr>
            </a:pPr>
            <a:r>
              <a:t>📋 Auto-generate task key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(PROJECT-1, PROJECT-2...)</a:t>
            </a:r>
          </a:p>
          <a:p>
            <a:pPr>
              <a:defRPr sz="1100" b="1">
                <a:solidFill>
                  <a:srgbClr val="E2E8F0"/>
                </a:solidFill>
              </a:defRPr>
            </a:pPr>
            <a:endParaRPr/>
          </a:p>
          <a:p>
            <a:pPr>
              <a:defRPr sz="1100" b="1">
                <a:solidFill>
                  <a:srgbClr val="E2E8F0"/>
                </a:solidFill>
              </a:defRPr>
            </a:pPr>
            <a:r>
              <a:t>🏷️ 4 Task Types: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Story, Task, Bug, Epic</a:t>
            </a:r>
          </a:p>
          <a:p>
            <a:pPr>
              <a:defRPr sz="1100" b="1">
                <a:solidFill>
                  <a:srgbClr val="E2E8F0"/>
                </a:solidFill>
              </a:defRPr>
            </a:pPr>
            <a:endParaRPr/>
          </a:p>
          <a:p>
            <a:pPr>
              <a:defRPr sz="1100" b="1">
                <a:solidFill>
                  <a:srgbClr val="E2E8F0"/>
                </a:solidFill>
              </a:defRPr>
            </a:pPr>
            <a:r>
              <a:t>🎯 5 Priority Levels: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Lowest → Critical</a:t>
            </a:r>
          </a:p>
          <a:p>
            <a:pPr>
              <a:defRPr sz="1100" b="1">
                <a:solidFill>
                  <a:srgbClr val="E2E8F0"/>
                </a:solidFill>
              </a:defRPr>
            </a:pPr>
            <a:endParaRPr/>
          </a:p>
          <a:p>
            <a:pPr>
              <a:defRPr sz="1100" b="1">
                <a:solidFill>
                  <a:srgbClr val="E2E8F0"/>
                </a:solidFill>
              </a:defRPr>
            </a:pPr>
            <a:r>
              <a:t>📊 7 Status Columns: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Backlog → Done</a:t>
            </a:r>
          </a:p>
          <a:p>
            <a:pPr>
              <a:defRPr sz="1100" b="1">
                <a:solidFill>
                  <a:srgbClr val="E2E8F0"/>
                </a:solidFill>
              </a:defRPr>
            </a:pPr>
            <a:endParaRPr/>
          </a:p>
          <a:p>
            <a:pPr>
              <a:defRPr sz="1100" b="1">
                <a:solidFill>
                  <a:srgbClr val="E2E8F0"/>
                </a:solidFill>
              </a:defRPr>
            </a:pPr>
            <a:r>
              <a:t>⏱️ Time Tracking: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Estimated vs Actual</a:t>
            </a:r>
          </a:p>
          <a:p>
            <a:pPr>
              <a:defRPr sz="1100" b="1">
                <a:solidFill>
                  <a:srgbClr val="E2E8F0"/>
                </a:solidFill>
              </a:defRPr>
            </a:pPr>
            <a:endParaRPr/>
          </a:p>
          <a:p>
            <a:pPr>
              <a:defRPr sz="1100" b="1">
                <a:solidFill>
                  <a:srgbClr val="E2E8F0"/>
                </a:solidFill>
              </a:defRPr>
            </a:pPr>
            <a:r>
              <a:t>📜 History Logging: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Ghi lại mọi thay đổi</a:t>
            </a:r>
          </a:p>
          <a:p>
            <a:pPr>
              <a:defRPr sz="1100" b="1">
                <a:solidFill>
                  <a:srgbClr val="E2E8F0"/>
                </a:solidFill>
              </a:defRPr>
            </a:pPr>
            <a:endParaRPr/>
          </a:p>
          <a:p>
            <a:pPr>
              <a:defRPr sz="1100" b="1">
                <a:solidFill>
                  <a:srgbClr val="E2E8F0"/>
                </a:solidFill>
              </a:defRPr>
            </a:pPr>
            <a:r>
              <a:t>🏷️ Labels System: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Phân loại linh hoạt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⚡ REAL-TIME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📨 </a:t>
            </a:r>
            <a:r>
              <a:rPr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SERVER-SENT EVENTS (SSE)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</a:t>
            </a:r>
            <a:r>
              <a:rPr dirty="0" err="1"/>
              <a:t>Nhận</a:t>
            </a:r>
            <a:r>
              <a:rPr dirty="0"/>
              <a:t> tin </a:t>
            </a:r>
            <a:r>
              <a:rPr dirty="0" err="1"/>
              <a:t>nhắn</a:t>
            </a:r>
            <a:r>
              <a:rPr dirty="0"/>
              <a:t> real-time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One-way: Server → Client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🔌 </a:t>
            </a:r>
            <a:r>
              <a:rPr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WEBSOCKET (</a:t>
            </a:r>
            <a:r>
              <a:rPr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Socket.io</a:t>
            </a:r>
            <a:r>
              <a:rPr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Video call signaling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Bi-directional communication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Online status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📹 </a:t>
            </a:r>
            <a:r>
              <a:rPr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WEBRTC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Peer-to-peer video/audio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ICE/STUN for NAT traversal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Screen sharing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🔐 BẢO MẬT &amp; XÁC THỰC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05257"/>
            <a:ext cx="786384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🔑 </a:t>
            </a:r>
            <a:r>
              <a:rPr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CLERK AUTHENTICATION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Social login (Google, GitHub)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Email/Password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JWT tokens &amp; Session management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🛡️ </a:t>
            </a:r>
            <a:r>
              <a:rPr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SECURITY MEASURES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lang="en-US" dirty="0"/>
              <a:t>   • HTTPS encryption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lang="en-US" dirty="0"/>
              <a:t>   • CORS protection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Input validation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Rate limiting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👮 </a:t>
            </a:r>
            <a:r>
              <a:rPr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ADMIN PANEL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User &amp; Post management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Dashboard analytics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📈 KẾT QUẢ ĐẠT ĐƯỢC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✅ </a:t>
            </a:r>
            <a:r>
              <a:rPr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TÍNH NĂNG ĐÃ HOÀN THÀNH: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</a:t>
            </a:r>
            <a:r>
              <a:rPr dirty="0" err="1"/>
              <a:t>Mạng</a:t>
            </a:r>
            <a:r>
              <a:rPr dirty="0"/>
              <a:t> </a:t>
            </a:r>
            <a:r>
              <a:rPr dirty="0" err="1"/>
              <a:t>xã</a:t>
            </a:r>
            <a:r>
              <a:rPr dirty="0"/>
              <a:t> </a:t>
            </a:r>
            <a:r>
              <a:rPr dirty="0" err="1"/>
              <a:t>hội</a:t>
            </a:r>
            <a:r>
              <a:rPr dirty="0"/>
              <a:t>: Posts, Stories, Profile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Chat 1-1 </a:t>
            </a:r>
            <a:r>
              <a:rPr dirty="0" err="1"/>
              <a:t>và</a:t>
            </a:r>
            <a:r>
              <a:rPr dirty="0"/>
              <a:t> Group Chat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Video Call (1-1 </a:t>
            </a:r>
            <a:r>
              <a:rPr dirty="0" err="1"/>
              <a:t>và</a:t>
            </a:r>
            <a:r>
              <a:rPr dirty="0"/>
              <a:t> Group)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AI Assistant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Project Management &amp; Kanban Board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Task Management </a:t>
            </a:r>
            <a:r>
              <a:rPr dirty="0" err="1"/>
              <a:t>đầy</a:t>
            </a:r>
            <a:r>
              <a:rPr dirty="0"/>
              <a:t> </a:t>
            </a:r>
            <a:r>
              <a:rPr dirty="0" err="1"/>
              <a:t>đủ</a:t>
            </a:r>
            <a:endParaRPr lang="en-VN" dirty="0"/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lang="en-VN" dirty="0"/>
              <a:t>   • </a:t>
            </a:r>
            <a:r>
              <a:rPr lang="en-US" dirty="0"/>
              <a:t>Sprint Management &amp; Time Tracking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Email Notifications &amp; Admin Panel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• Dark/Light Mode &amp; Multi-language (VI/EN)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rPr dirty="0"/>
              <a:t>💪 ĐIỂM MẠNH &amp; HẠN CHẾ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444" y="1580606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rPr dirty="0"/>
              <a:t>💪 ĐIỂM MẠNH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✅ All-in-One Platform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✅ Task Handover </a:t>
            </a:r>
            <a:r>
              <a:rPr dirty="0" err="1"/>
              <a:t>độc</a:t>
            </a:r>
            <a:r>
              <a:rPr dirty="0"/>
              <a:t> </a:t>
            </a:r>
            <a:r>
              <a:rPr dirty="0" err="1"/>
              <a:t>đáo</a:t>
            </a:r>
            <a:endParaRPr dirty="0"/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✅ Real-time </a:t>
            </a:r>
            <a:r>
              <a:rPr dirty="0" err="1"/>
              <a:t>đầy</a:t>
            </a:r>
            <a:r>
              <a:rPr dirty="0"/>
              <a:t> </a:t>
            </a:r>
            <a:r>
              <a:rPr dirty="0" err="1"/>
              <a:t>đủ</a:t>
            </a:r>
            <a:endParaRPr dirty="0"/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✅ Full-stack JavaScript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✅ Modern UI/UX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✅ AI Integration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✅ Enterprise-ready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580606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rPr dirty="0"/>
              <a:t>⚠️ HẠN CHẾ &amp; HƯỚNG PHÁT TRIỂN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402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⚠️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Mobile App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⚠️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Advanced Analytics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⚠️ Monolithic Architecture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🔮 HƯỚNG PHÁT TRIỂN: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• React Native Mobile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• Microservices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• GitHub Integration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🎯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0396"/>
            <a:ext cx="786384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 err="1"/>
              <a:t>PingUp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Enterprise Collaboration Platform </a:t>
            </a:r>
            <a:r>
              <a:rPr dirty="0" err="1"/>
              <a:t>với</a:t>
            </a:r>
            <a:r>
              <a:rPr dirty="0"/>
              <a:t>: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1️⃣ SOCIAL NETWORKING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qua posts, stories, chat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2️⃣ PROJECT MANAGEMENT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Agile workflow </a:t>
            </a:r>
            <a:r>
              <a:rPr dirty="0" err="1"/>
              <a:t>với</a:t>
            </a:r>
            <a:r>
              <a:rPr dirty="0"/>
              <a:t> Kanban, Sprint, Task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lang="en-VN" dirty="0"/>
              <a:t>3️⃣ </a:t>
            </a:r>
            <a:r>
              <a:rPr dirty="0"/>
              <a:t>REAL-TIME COMMUNICATION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r>
              <a:rPr dirty="0"/>
              <a:t>   Chat, Video Call, AI Assistant</a:t>
            </a:r>
          </a:p>
          <a:p>
            <a:pPr>
              <a:spcBef>
                <a:spcPts val="1200"/>
              </a:spcBef>
              <a:defRPr sz="2000">
                <a:solidFill>
                  <a:srgbClr val="E2E8F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0013" y="1828800"/>
            <a:ext cx="280397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 HỎI ĐÁP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5682" y="3200400"/>
            <a:ext cx="401263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rPr dirty="0"/>
              <a:t> </a:t>
            </a:r>
            <a:r>
              <a:rPr dirty="0" err="1"/>
              <a:t>Cảm</a:t>
            </a:r>
            <a:r>
              <a:rPr dirty="0"/>
              <a:t> </a:t>
            </a:r>
            <a:r>
              <a:rPr dirty="0" err="1"/>
              <a:t>ơn</a:t>
            </a:r>
            <a:r>
              <a:rPr dirty="0"/>
              <a:t> </a:t>
            </a:r>
            <a:r>
              <a:rPr dirty="0" err="1"/>
              <a:t>thầy</a:t>
            </a:r>
            <a:r>
              <a:rPr dirty="0"/>
              <a:t>/</a:t>
            </a:r>
            <a:r>
              <a:rPr dirty="0" err="1"/>
              <a:t>cô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lắng</a:t>
            </a:r>
            <a:r>
              <a:rPr dirty="0"/>
              <a:t> </a:t>
            </a:r>
            <a:r>
              <a:rPr dirty="0" err="1"/>
              <a:t>nghe</a:t>
            </a:r>
            <a:r>
              <a:rPr dirty="0"/>
              <a:t>!</a:t>
            </a:r>
            <a:br>
              <a:rPr dirty="0"/>
            </a:br>
            <a:br>
              <a:rPr dirty="0"/>
            </a:br>
            <a:r>
              <a:rPr dirty="0"/>
              <a:t>━━━━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1472</Words>
  <Application>Microsoft Macintosh PowerPoint</Application>
  <PresentationFormat>On-screen Show (4:3)</PresentationFormat>
  <Paragraphs>344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Al Nile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Vũ Thành Long</cp:lastModifiedBy>
  <cp:revision>39</cp:revision>
  <dcterms:created xsi:type="dcterms:W3CDTF">2013-01-27T09:14:16Z</dcterms:created>
  <dcterms:modified xsi:type="dcterms:W3CDTF">2025-12-24T18:13:01Z</dcterms:modified>
  <cp:category/>
</cp:coreProperties>
</file>